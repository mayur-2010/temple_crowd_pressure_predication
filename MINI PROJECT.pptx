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43" r:id="rId1"/>
  </p:sldMasterIdLst>
  <p:sldIdLst>
    <p:sldId id="257" r:id="rId2"/>
    <p:sldId id="258" r:id="rId3"/>
    <p:sldId id="259" r:id="rId4"/>
    <p:sldId id="260"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ur Pawar" userId="7c7f9708ae2afb07" providerId="LiveId" clId="{2BB759D8-D88C-42D2-9BF5-E87AE23836A3}"/>
    <pc:docChg chg="undo custSel addSld delSld modSld">
      <pc:chgData name="Mayur Pawar" userId="7c7f9708ae2afb07" providerId="LiveId" clId="{2BB759D8-D88C-42D2-9BF5-E87AE23836A3}" dt="2026-09-28T03:47:21.790" v="54" actId="2696"/>
      <pc:docMkLst>
        <pc:docMk/>
      </pc:docMkLst>
      <pc:sldChg chg="modSp mod">
        <pc:chgData name="Mayur Pawar" userId="7c7f9708ae2afb07" providerId="LiveId" clId="{2BB759D8-D88C-42D2-9BF5-E87AE23836A3}" dt="2026-09-27T14:04:11.792" v="31" actId="255"/>
        <pc:sldMkLst>
          <pc:docMk/>
          <pc:sldMk cId="3614306085" sldId="262"/>
        </pc:sldMkLst>
        <pc:spChg chg="mod">
          <ac:chgData name="Mayur Pawar" userId="7c7f9708ae2afb07" providerId="LiveId" clId="{2BB759D8-D88C-42D2-9BF5-E87AE23836A3}" dt="2026-09-27T14:04:11.792" v="31" actId="255"/>
          <ac:spMkLst>
            <pc:docMk/>
            <pc:sldMk cId="3614306085" sldId="262"/>
            <ac:spMk id="2" creationId="{4B3116F4-A429-89F3-3191-83D7FE90E43E}"/>
          </ac:spMkLst>
        </pc:spChg>
      </pc:sldChg>
      <pc:sldChg chg="modSp mod">
        <pc:chgData name="Mayur Pawar" userId="7c7f9708ae2afb07" providerId="LiveId" clId="{2BB759D8-D88C-42D2-9BF5-E87AE23836A3}" dt="2026-09-27T14:03:31.068" v="27" actId="14100"/>
        <pc:sldMkLst>
          <pc:docMk/>
          <pc:sldMk cId="4110080544" sldId="263"/>
        </pc:sldMkLst>
        <pc:spChg chg="mod">
          <ac:chgData name="Mayur Pawar" userId="7c7f9708ae2afb07" providerId="LiveId" clId="{2BB759D8-D88C-42D2-9BF5-E87AE23836A3}" dt="2026-09-27T14:03:31.068" v="27" actId="14100"/>
          <ac:spMkLst>
            <pc:docMk/>
            <pc:sldMk cId="4110080544" sldId="263"/>
            <ac:spMk id="2" creationId="{B650B77C-0BD2-A890-993A-89C0EE2DB5E8}"/>
          </ac:spMkLst>
        </pc:spChg>
      </pc:sldChg>
      <pc:sldChg chg="delSp modSp new mod">
        <pc:chgData name="Mayur Pawar" userId="7c7f9708ae2afb07" providerId="LiveId" clId="{2BB759D8-D88C-42D2-9BF5-E87AE23836A3}" dt="2026-09-27T14:06:13.062" v="52" actId="2711"/>
        <pc:sldMkLst>
          <pc:docMk/>
          <pc:sldMk cId="1125362496" sldId="266"/>
        </pc:sldMkLst>
        <pc:spChg chg="mod">
          <ac:chgData name="Mayur Pawar" userId="7c7f9708ae2afb07" providerId="LiveId" clId="{2BB759D8-D88C-42D2-9BF5-E87AE23836A3}" dt="2026-09-27T14:06:13.062" v="52" actId="2711"/>
          <ac:spMkLst>
            <pc:docMk/>
            <pc:sldMk cId="1125362496" sldId="266"/>
            <ac:spMk id="2" creationId="{9F4DE351-1B07-234E-F4D3-1F5D4F07A328}"/>
          </ac:spMkLst>
        </pc:spChg>
        <pc:spChg chg="del mod">
          <ac:chgData name="Mayur Pawar" userId="7c7f9708ae2afb07" providerId="LiveId" clId="{2BB759D8-D88C-42D2-9BF5-E87AE23836A3}" dt="2026-09-27T14:05:53.332" v="49" actId="478"/>
          <ac:spMkLst>
            <pc:docMk/>
            <pc:sldMk cId="1125362496" sldId="266"/>
            <ac:spMk id="3" creationId="{4C00B174-3B0E-2925-6A44-AEF4291626D4}"/>
          </ac:spMkLst>
        </pc:spChg>
      </pc:sldChg>
      <pc:sldChg chg="add del">
        <pc:chgData name="Mayur Pawar" userId="7c7f9708ae2afb07" providerId="LiveId" clId="{2BB759D8-D88C-42D2-9BF5-E87AE23836A3}" dt="2026-09-28T03:47:21.790" v="54" actId="2696"/>
        <pc:sldMkLst>
          <pc:docMk/>
          <pc:sldMk cId="272251567" sldId="267"/>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IN"/>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5C7BCDA3-F39C-4E93-842E-DFB9AA623802}" type="datetimeFigureOut">
              <a:rPr lang="en-IN" smtClean="0"/>
              <a:t>28-09-2026</a:t>
            </a:fld>
            <a:endParaRPr lang="en-IN"/>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248045403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2850788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5C7BCDA3-F39C-4E93-842E-DFB9AA623802}" type="datetimeFigureOut">
              <a:rPr lang="en-IN" smtClean="0"/>
              <a:t>28-09-2026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1476613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5C7BCDA3-F39C-4E93-842E-DFB9AA623802}" type="datetimeFigureOut">
              <a:rPr lang="en-IN" smtClean="0"/>
              <a:t>28-09-2026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300999674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IN"/>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5C7BCDA3-F39C-4E93-842E-DFB9AA623802}" type="datetimeFigureOut">
              <a:rPr lang="en-IN" smtClean="0"/>
              <a:t>28-09-2026</a:t>
            </a:fld>
            <a:endParaRPr lang="en-IN"/>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93237625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2104193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IN"/>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5C7BCDA3-F39C-4E93-842E-DFB9AA623802}" type="datetimeFigureOut">
              <a:rPr lang="en-IN" smtClean="0"/>
              <a:t>28-09-2026</a:t>
            </a:fld>
            <a:endParaRPr lang="en-IN"/>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2272398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35987192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308981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IN"/>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5C7BCDA3-F39C-4E93-842E-DFB9AA623802}" type="datetimeFigureOut">
              <a:rPr lang="en-IN" smtClean="0"/>
              <a:t>28-09-2026</a:t>
            </a:fld>
            <a:endParaRPr lang="en-IN"/>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531447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IN"/>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5C7BCDA3-F39C-4E93-842E-DFB9AA623802}" type="datetimeFigureOut">
              <a:rPr lang="en-IN" smtClean="0"/>
              <a:t>28-09-2026</a:t>
            </a:fld>
            <a:endParaRPr lang="en-IN"/>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1126376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IN"/>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5C7BCDA3-F39C-4E93-842E-DFB9AA623802}" type="datetimeFigureOut">
              <a:rPr lang="en-IN" smtClean="0"/>
              <a:t>28-09-2026</a:t>
            </a:fld>
            <a:endParaRPr lang="en-IN"/>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1491036F-A6EF-47A2-BA3F-DA956DC4214B}" type="slidenum">
              <a:rPr lang="en-IN" smtClean="0"/>
              <a:t>‹#›</a:t>
            </a:fld>
            <a:endParaRPr lang="en-IN"/>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62223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5C7BCDA3-F39C-4E93-842E-DFB9AA623802}" type="datetimeFigureOut">
              <a:rPr lang="en-IN" smtClean="0"/>
              <a:t>28-09-2026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1491036F-A6EF-47A2-BA3F-DA956DC4214B}" type="slidenum">
              <a:rPr lang="en-IN" smtClean="0"/>
              <a:t>‹#›</a:t>
            </a:fld>
            <a:endParaRPr lang="en-IN"/>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793493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IN"/>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5C7BCDA3-F39C-4E93-842E-DFB9AA623802}" type="datetimeFigureOut">
              <a:rPr lang="en-IN" smtClean="0"/>
              <a:t>28-09-2026</a:t>
            </a:fld>
            <a:endParaRPr lang="en-IN"/>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1491036F-A6EF-47A2-BA3F-DA956DC4214B}" type="slidenum">
              <a:rPr lang="en-IN" smtClean="0"/>
              <a:t>‹#›</a:t>
            </a:fld>
            <a:endParaRPr lang="en-IN"/>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6874147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IN"/>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5C7BCDA3-F39C-4E93-842E-DFB9AA623802}" type="datetimeFigureOut">
              <a:rPr lang="en-IN" smtClean="0"/>
              <a:t>28-09-2026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9199601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IN"/>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10158020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IN"/>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5C7BCDA3-F39C-4E93-842E-DFB9AA623802}" type="datetimeFigureOut">
              <a:rPr lang="en-IN" smtClean="0"/>
              <a:t>28-09-2026</a:t>
            </a:fld>
            <a:endParaRPr lang="en-IN"/>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5314133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IN"/>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2564643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IN"/>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5C7BCDA3-F39C-4E93-842E-DFB9AA623802}" type="datetimeFigureOut">
              <a:rPr lang="en-IN" smtClean="0"/>
              <a:t>28-09-2026</a:t>
            </a:fld>
            <a:endParaRPr lang="en-IN"/>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1491036F-A6EF-47A2-BA3F-DA956DC4214B}" type="slidenum">
              <a:rPr lang="en-IN" smtClean="0"/>
              <a:t>‹#›</a:t>
            </a:fld>
            <a:endParaRPr lang="en-IN"/>
          </a:p>
        </p:txBody>
      </p:sp>
    </p:spTree>
    <p:extLst>
      <p:ext uri="{BB962C8B-B14F-4D97-AF65-F5344CB8AC3E}">
        <p14:creationId xmlns:p14="http://schemas.microsoft.com/office/powerpoint/2010/main" val="343460254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741953931"/>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10107132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IN"/>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40560593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IN"/>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40686114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IN"/>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18840277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IN"/>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38975513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3402974948"/>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IN"/>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C7BCDA3-F39C-4E93-842E-DFB9AA623802}" type="datetimeFigureOut">
              <a:rPr lang="en-IN" smtClean="0"/>
              <a:t>28-09-2026</a:t>
            </a:fld>
            <a:endParaRPr lang="en-IN"/>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1491036F-A6EF-47A2-BA3F-DA956DC4214B}" type="slidenum">
              <a:rPr lang="en-IN" smtClean="0"/>
              <a:t>‹#›</a:t>
            </a:fld>
            <a:endParaRPr lang="en-IN"/>
          </a:p>
        </p:txBody>
      </p:sp>
    </p:spTree>
    <p:extLst>
      <p:ext uri="{BB962C8B-B14F-4D97-AF65-F5344CB8AC3E}">
        <p14:creationId xmlns:p14="http://schemas.microsoft.com/office/powerpoint/2010/main" val="257149291"/>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IN"/>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5C7BCDA3-F39C-4E93-842E-DFB9AA623802}" type="datetimeFigureOut">
              <a:rPr lang="en-IN" smtClean="0"/>
              <a:t>28-09-2026</a:t>
            </a:fld>
            <a:endParaRPr lang="en-IN"/>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1491036F-A6EF-47A2-BA3F-DA956DC4214B}" type="slidenum">
              <a:rPr lang="en-IN" smtClean="0"/>
              <a:t>‹#›</a:t>
            </a:fld>
            <a:endParaRPr lang="en-IN"/>
          </a:p>
        </p:txBody>
      </p:sp>
    </p:spTree>
    <p:extLst>
      <p:ext uri="{BB962C8B-B14F-4D97-AF65-F5344CB8AC3E}">
        <p14:creationId xmlns:p14="http://schemas.microsoft.com/office/powerpoint/2010/main" val="3741630146"/>
      </p:ext>
    </p:extLst>
  </p:cSld>
  <p:clrMap bg1="lt1" tx1="dk1" bg2="lt2" tx2="dk2" accent1="accent1" accent2="accent2" accent3="accent3" accent4="accent4" accent5="accent5" accent6="accent6" hlink="hlink" folHlink="folHlink"/>
  <p:sldLayoutIdLst>
    <p:sldLayoutId id="2147484044" r:id="rId1"/>
    <p:sldLayoutId id="2147484045" r:id="rId2"/>
    <p:sldLayoutId id="2147484046" r:id="rId3"/>
    <p:sldLayoutId id="2147484047" r:id="rId4"/>
    <p:sldLayoutId id="2147484048" r:id="rId5"/>
    <p:sldLayoutId id="2147484049" r:id="rId6"/>
    <p:sldLayoutId id="2147484050" r:id="rId7"/>
    <p:sldLayoutId id="2147484051" r:id="rId8"/>
    <p:sldLayoutId id="2147484052" r:id="rId9"/>
    <p:sldLayoutId id="2147484053" r:id="rId10"/>
    <p:sldLayoutId id="2147484054" r:id="rId11"/>
    <p:sldLayoutId id="2147484055" r:id="rId12"/>
    <p:sldLayoutId id="2147484056" r:id="rId13"/>
    <p:sldLayoutId id="2147484057" r:id="rId14"/>
    <p:sldLayoutId id="2147484058" r:id="rId15"/>
    <p:sldLayoutId id="2147484059" r:id="rId16"/>
    <p:sldLayoutId id="2147484060" r:id="rId17"/>
    <p:sldLayoutId id="2147484061" r:id="rId18"/>
    <p:sldLayoutId id="2147484062" r:id="rId19"/>
    <p:sldLayoutId id="2147484063" r:id="rId20"/>
    <p:sldLayoutId id="2147484064" r:id="rId21"/>
    <p:sldLayoutId id="2147484065" r:id="rId22"/>
    <p:sldLayoutId id="2147484066" r:id="rId23"/>
    <p:sldLayoutId id="2147484067" r:id="rId24"/>
    <p:sldLayoutId id="2147484068" r:id="rId25"/>
    <p:sldLayoutId id="2147484069" r:id="rId26"/>
    <p:sldLayoutId id="2147484070" r:id="rId27"/>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23197-A2E2-2C12-3597-BDD995891EE6}"/>
              </a:ext>
            </a:extLst>
          </p:cNvPr>
          <p:cNvSpPr>
            <a:spLocks noGrp="1"/>
          </p:cNvSpPr>
          <p:nvPr>
            <p:ph type="ctrTitle"/>
          </p:nvPr>
        </p:nvSpPr>
        <p:spPr>
          <a:xfrm>
            <a:off x="4016415" y="1122362"/>
            <a:ext cx="9255889" cy="1215723"/>
          </a:xfrm>
        </p:spPr>
        <p:txBody>
          <a:bodyPr>
            <a:noAutofit/>
          </a:bodyPr>
          <a:lstStyle/>
          <a:p>
            <a:r>
              <a:rPr lang="en-IN" sz="3600" dirty="0">
                <a:latin typeface="Times New Roman" panose="02020603050405020304" pitchFamily="18" charset="0"/>
                <a:cs typeface="Times New Roman" panose="02020603050405020304" pitchFamily="18" charset="0"/>
              </a:rPr>
              <a:t>MINI PROJECT</a:t>
            </a:r>
          </a:p>
        </p:txBody>
      </p:sp>
      <p:sp>
        <p:nvSpPr>
          <p:cNvPr id="3" name="Subtitle 2">
            <a:extLst>
              <a:ext uri="{FF2B5EF4-FFF2-40B4-BE49-F238E27FC236}">
                <a16:creationId xmlns:a16="http://schemas.microsoft.com/office/drawing/2014/main" id="{059D565D-CD3A-1F98-219F-E5D34C028834}"/>
              </a:ext>
            </a:extLst>
          </p:cNvPr>
          <p:cNvSpPr>
            <a:spLocks noGrp="1"/>
          </p:cNvSpPr>
          <p:nvPr>
            <p:ph type="subTitle" idx="1"/>
          </p:nvPr>
        </p:nvSpPr>
        <p:spPr>
          <a:xfrm>
            <a:off x="1412111" y="3125166"/>
            <a:ext cx="9826907" cy="2610472"/>
          </a:xfrm>
        </p:spPr>
        <p:txBody>
          <a:bodyPr>
            <a:normAutofit/>
          </a:bodyPr>
          <a:lstStyle/>
          <a:p>
            <a:pPr algn="l"/>
            <a:r>
              <a:rPr lang="en-IN" b="1" dirty="0">
                <a:latin typeface="Times New Roman" panose="02020603050405020304" pitchFamily="18" charset="0"/>
                <a:cs typeface="Times New Roman" panose="02020603050405020304" pitchFamily="18" charset="0"/>
              </a:rPr>
              <a:t>Temple and Religious Gathering Crowd Stampede Pressure Index Prediction</a:t>
            </a:r>
            <a:br>
              <a:rPr lang="en-IN" b="1"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By – Mayur Pawar</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M.Sc. Computer Science</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MIT Arts, Commerce and Science College</a:t>
            </a:r>
            <a:endParaRPr lang="en-IN" dirty="0">
              <a:latin typeface="Times New Roman" panose="02020603050405020304" pitchFamily="18" charset="0"/>
              <a:cs typeface="Times New Roman" panose="02020603050405020304" pitchFamily="18" charset="0"/>
            </a:endParaRPr>
          </a:p>
          <a:p>
            <a:pPr algn="l"/>
            <a:endParaRPr lang="en-IN" dirty="0"/>
          </a:p>
        </p:txBody>
      </p:sp>
    </p:spTree>
    <p:extLst>
      <p:ext uri="{BB962C8B-B14F-4D97-AF65-F5344CB8AC3E}">
        <p14:creationId xmlns:p14="http://schemas.microsoft.com/office/powerpoint/2010/main" val="41095237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C34E7-47E1-14A4-ED07-77C11E8E6016}"/>
              </a:ext>
            </a:extLst>
          </p:cNvPr>
          <p:cNvSpPr>
            <a:spLocks noGrp="1"/>
          </p:cNvSpPr>
          <p:nvPr>
            <p:ph type="ctrTitle"/>
          </p:nvPr>
        </p:nvSpPr>
        <p:spPr>
          <a:xfrm>
            <a:off x="612647" y="1038828"/>
            <a:ext cx="10302280" cy="222813"/>
          </a:xfrm>
        </p:spPr>
        <p:txBody>
          <a:bodyPr>
            <a:noAutofit/>
          </a:bodyPr>
          <a:lstStyle/>
          <a:p>
            <a:r>
              <a:rPr lang="en-IN" sz="2400" dirty="0"/>
              <a:t>Brief Description</a:t>
            </a:r>
            <a:br>
              <a:rPr lang="en-IN" sz="2400" dirty="0"/>
            </a:br>
            <a:endParaRPr lang="en-IN" sz="24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34D900A9-5B8C-9F8C-1F66-3B149FDF6AC0}"/>
              </a:ext>
            </a:extLst>
          </p:cNvPr>
          <p:cNvSpPr>
            <a:spLocks noGrp="1"/>
          </p:cNvSpPr>
          <p:nvPr>
            <p:ph type="subTitle" idx="1"/>
          </p:nvPr>
        </p:nvSpPr>
        <p:spPr>
          <a:xfrm>
            <a:off x="612647" y="1481559"/>
            <a:ext cx="10174958" cy="4456254"/>
          </a:xfrm>
        </p:spPr>
        <p:txBody>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This project develops a </a:t>
            </a:r>
            <a:r>
              <a:rPr lang="en-IN" sz="2000" b="1" dirty="0">
                <a:latin typeface="Times New Roman" panose="02020603050405020304" pitchFamily="18" charset="0"/>
                <a:cs typeface="Times New Roman" panose="02020603050405020304" pitchFamily="18" charset="0"/>
              </a:rPr>
              <a:t>Machine Learning system</a:t>
            </a:r>
            <a:r>
              <a:rPr lang="en-IN" sz="2000" dirty="0">
                <a:latin typeface="Times New Roman" panose="02020603050405020304" pitchFamily="18" charset="0"/>
                <a:cs typeface="Times New Roman" panose="02020603050405020304" pitchFamily="18" charset="0"/>
              </a:rPr>
              <a:t> to predict crowd pressure during temple and religious gatherings.</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a:t>
            </a:r>
            <a:r>
              <a:rPr lang="en-IN" sz="2000" b="1" dirty="0">
                <a:latin typeface="Times New Roman" panose="02020603050405020304" pitchFamily="18" charset="0"/>
                <a:cs typeface="Times New Roman" panose="02020603050405020304" pitchFamily="18" charset="0"/>
              </a:rPr>
              <a:t>crowd size, crowd movement, weather, and event conditions</a:t>
            </a:r>
            <a:r>
              <a:rPr lang="en-IN" sz="200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calculates a </a:t>
            </a:r>
            <a:r>
              <a:rPr lang="en-IN" sz="2000" b="1" dirty="0">
                <a:latin typeface="Times New Roman" panose="02020603050405020304" pitchFamily="18" charset="0"/>
                <a:cs typeface="Times New Roman" panose="02020603050405020304" pitchFamily="18" charset="0"/>
              </a:rPr>
              <a:t>Crowd Pressure Index</a:t>
            </a:r>
            <a:r>
              <a:rPr lang="en-IN" sz="200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identifies the crowd risk as </a:t>
            </a:r>
            <a:r>
              <a:rPr lang="en-IN" sz="2000" b="1" dirty="0">
                <a:latin typeface="Times New Roman" panose="02020603050405020304" pitchFamily="18" charset="0"/>
                <a:cs typeface="Times New Roman" panose="02020603050405020304" pitchFamily="18" charset="0"/>
              </a:rPr>
              <a:t>Safe, Moderate, or Critical</a:t>
            </a:r>
            <a:r>
              <a:rPr lang="en-IN" sz="2000" dirty="0">
                <a:latin typeface="Times New Roman" panose="02020603050405020304" pitchFamily="18" charset="0"/>
                <a:cs typeface="Times New Roman" panose="02020603050405020304" pitchFamily="18" charset="0"/>
              </a:rPr>
              <a:t>.</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provides an </a:t>
            </a:r>
            <a:r>
              <a:rPr lang="en-IN" sz="2000" b="1" dirty="0">
                <a:latin typeface="Times New Roman" panose="02020603050405020304" pitchFamily="18" charset="0"/>
                <a:cs typeface="Times New Roman" panose="02020603050405020304" pitchFamily="18" charset="0"/>
              </a:rPr>
              <a:t>early warning</a:t>
            </a:r>
            <a:r>
              <a:rPr lang="en-IN" sz="2000" dirty="0">
                <a:latin typeface="Times New Roman" panose="02020603050405020304" pitchFamily="18" charset="0"/>
                <a:cs typeface="Times New Roman" panose="02020603050405020304" pitchFamily="18" charset="0"/>
              </a:rPr>
              <a:t> when crowd pressure becomes high.</a:t>
            </a:r>
          </a:p>
          <a:p>
            <a:pPr marL="285750" lvl="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can support authorities in </a:t>
            </a:r>
            <a:r>
              <a:rPr lang="en-IN" sz="2000" b="1" dirty="0">
                <a:latin typeface="Times New Roman" panose="02020603050405020304" pitchFamily="18" charset="0"/>
                <a:cs typeface="Times New Roman" panose="02020603050405020304" pitchFamily="18" charset="0"/>
              </a:rPr>
              <a:t>better crowd management and safety planning</a:t>
            </a:r>
            <a:r>
              <a:rPr lang="en-IN" sz="2000" dirty="0">
                <a:latin typeface="Times New Roman" panose="02020603050405020304" pitchFamily="18"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23107232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ED7D3-C9F2-71E5-4B4B-ADE26DEC8B50}"/>
              </a:ext>
            </a:extLst>
          </p:cNvPr>
          <p:cNvSpPr>
            <a:spLocks noGrp="1"/>
          </p:cNvSpPr>
          <p:nvPr>
            <p:ph type="ctrTitle"/>
          </p:nvPr>
        </p:nvSpPr>
        <p:spPr>
          <a:xfrm>
            <a:off x="612647" y="1143000"/>
            <a:ext cx="8683753" cy="801547"/>
          </a:xfrm>
        </p:spPr>
        <p:txBody>
          <a:bodyPr>
            <a:noAutofit/>
          </a:bodyPr>
          <a:lstStyle/>
          <a:p>
            <a:r>
              <a:rPr lang="en-IN" sz="2400" dirty="0"/>
              <a:t>Importance of the Issue</a:t>
            </a:r>
            <a:br>
              <a:rPr lang="en-IN" sz="2400" dirty="0"/>
            </a:br>
            <a:br>
              <a:rPr lang="en-IN" sz="2400" dirty="0"/>
            </a:br>
            <a:endParaRPr lang="en-IN" sz="2400" dirty="0"/>
          </a:p>
        </p:txBody>
      </p:sp>
      <p:sp>
        <p:nvSpPr>
          <p:cNvPr id="3" name="Subtitle 2">
            <a:extLst>
              <a:ext uri="{FF2B5EF4-FFF2-40B4-BE49-F238E27FC236}">
                <a16:creationId xmlns:a16="http://schemas.microsoft.com/office/drawing/2014/main" id="{EAD0C684-0763-27B5-5B9D-172242E2A5D7}"/>
              </a:ext>
            </a:extLst>
          </p:cNvPr>
          <p:cNvSpPr>
            <a:spLocks noGrp="1"/>
          </p:cNvSpPr>
          <p:nvPr>
            <p:ph type="subTitle" idx="1"/>
          </p:nvPr>
        </p:nvSpPr>
        <p:spPr>
          <a:xfrm>
            <a:off x="612647" y="1840376"/>
            <a:ext cx="10522199" cy="3657600"/>
          </a:xfrm>
        </p:spPr>
        <p:txBody>
          <a:bodyPr>
            <a:noAutofit/>
          </a:bodyPr>
          <a:lstStyle/>
          <a:p>
            <a:pPr marL="285750" indent="-285750">
              <a:buFont typeface="Arial" panose="020B0604020202020204" pitchFamily="34" charset="0"/>
              <a:buChar char="•"/>
            </a:pPr>
            <a:r>
              <a:rPr lang="en-IN" sz="2000" dirty="0"/>
              <a:t>Temple and religious events can attract large numbers of people.</a:t>
            </a:r>
          </a:p>
          <a:p>
            <a:pPr marL="285750" indent="-285750">
              <a:buFont typeface="Arial" panose="020B0604020202020204" pitchFamily="34" charset="0"/>
              <a:buChar char="•"/>
            </a:pPr>
            <a:r>
              <a:rPr lang="en-IN" sz="2000" dirty="0"/>
              <a:t>High crowd density can cause congestion and dangerous pressure.</a:t>
            </a:r>
          </a:p>
          <a:p>
            <a:pPr marL="285750" indent="-285750">
              <a:buFont typeface="Arial" panose="020B0604020202020204" pitchFamily="34" charset="0"/>
              <a:buChar char="•"/>
            </a:pPr>
            <a:r>
              <a:rPr lang="en-IN" sz="2000" dirty="0"/>
              <a:t>Sudden crowd movement can increase the risk of stampede.</a:t>
            </a:r>
          </a:p>
          <a:p>
            <a:pPr marL="285750" indent="-285750">
              <a:buFont typeface="Arial" panose="020B0604020202020204" pitchFamily="34" charset="0"/>
              <a:buChar char="•"/>
            </a:pPr>
            <a:r>
              <a:rPr lang="en-IN" sz="2000" dirty="0"/>
              <a:t>Early prediction can help identify unsafe crowd conditions.</a:t>
            </a:r>
          </a:p>
          <a:p>
            <a:pPr marL="285750" indent="-285750">
              <a:buFont typeface="Arial" panose="020B0604020202020204" pitchFamily="34" charset="0"/>
              <a:buChar char="•"/>
            </a:pPr>
            <a:r>
              <a:rPr lang="en-IN" sz="2000" dirty="0"/>
              <a:t>It can help authorities take timely safety measures and manage the crowd properly.</a:t>
            </a:r>
            <a:br>
              <a:rPr lang="en-IN" sz="2000" dirty="0"/>
            </a:br>
            <a:endParaRPr lang="en-IN" sz="2000" dirty="0"/>
          </a:p>
        </p:txBody>
      </p:sp>
    </p:spTree>
    <p:extLst>
      <p:ext uri="{BB962C8B-B14F-4D97-AF65-F5344CB8AC3E}">
        <p14:creationId xmlns:p14="http://schemas.microsoft.com/office/powerpoint/2010/main" val="3941619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ACA0-F633-F2F2-248C-8C2DA66CC5C0}"/>
              </a:ext>
            </a:extLst>
          </p:cNvPr>
          <p:cNvSpPr>
            <a:spLocks noGrp="1"/>
          </p:cNvSpPr>
          <p:nvPr>
            <p:ph type="ctrTitle"/>
          </p:nvPr>
        </p:nvSpPr>
        <p:spPr>
          <a:xfrm>
            <a:off x="612647" y="1143001"/>
            <a:ext cx="8683753" cy="201168"/>
          </a:xfrm>
        </p:spPr>
        <p:txBody>
          <a:bodyPr>
            <a:noAutofit/>
          </a:bodyPr>
          <a:lstStyle/>
          <a:p>
            <a:r>
              <a:rPr lang="en-IN" sz="2400" dirty="0"/>
              <a:t>Expected Output</a:t>
            </a:r>
            <a:br>
              <a:rPr lang="en-IN" sz="2000" dirty="0"/>
            </a:br>
            <a:endParaRPr lang="en-IN" sz="2000" dirty="0"/>
          </a:p>
        </p:txBody>
      </p:sp>
      <p:sp>
        <p:nvSpPr>
          <p:cNvPr id="3" name="Subtitle 2">
            <a:extLst>
              <a:ext uri="{FF2B5EF4-FFF2-40B4-BE49-F238E27FC236}">
                <a16:creationId xmlns:a16="http://schemas.microsoft.com/office/drawing/2014/main" id="{15E05EB8-2C5C-139A-47D3-7FB7966D90A2}"/>
              </a:ext>
            </a:extLst>
          </p:cNvPr>
          <p:cNvSpPr>
            <a:spLocks noGrp="1"/>
          </p:cNvSpPr>
          <p:nvPr>
            <p:ph type="subTitle" idx="1"/>
          </p:nvPr>
        </p:nvSpPr>
        <p:spPr>
          <a:xfrm>
            <a:off x="612647" y="1551008"/>
            <a:ext cx="10209682" cy="4375230"/>
          </a:xfrm>
        </p:spPr>
        <p:txBody>
          <a:bodyPr>
            <a:no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system will provide the following outputs: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Crowd Pressure Index – A numerical value showing the pressure level of the crowd.</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Risk Alert Level – The crowd will be classified as:</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Safe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Moderate</a:t>
            </a: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Critical</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Early Warning – Alerts when crowd pressure becomes high.</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Safety Support – Helps authorities take timely action to control and manage the crowd.</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0020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6C15E-591D-46D3-1BC9-602FDFD5AE52}"/>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BCB51FAD-E323-F5D3-C8F2-604772B5825E}"/>
              </a:ext>
            </a:extLst>
          </p:cNvPr>
          <p:cNvSpPr>
            <a:spLocks noGrp="1"/>
          </p:cNvSpPr>
          <p:nvPr>
            <p:ph type="subTitle" idx="1"/>
          </p:nvPr>
        </p:nvSpPr>
        <p:spPr/>
        <p:txBody>
          <a:bodyPr/>
          <a:lstStyle/>
          <a:p>
            <a:endParaRPr lang="en-IN"/>
          </a:p>
        </p:txBody>
      </p:sp>
      <p:graphicFrame>
        <p:nvGraphicFramePr>
          <p:cNvPr id="4" name="Table 3">
            <a:extLst>
              <a:ext uri="{FF2B5EF4-FFF2-40B4-BE49-F238E27FC236}">
                <a16:creationId xmlns:a16="http://schemas.microsoft.com/office/drawing/2014/main" id="{CC378448-7E81-4C75-AF94-7FCDBCDACB5E}"/>
              </a:ext>
            </a:extLst>
          </p:cNvPr>
          <p:cNvGraphicFramePr>
            <a:graphicFrameLocks noGrp="1"/>
          </p:cNvGraphicFramePr>
          <p:nvPr>
            <p:extLst>
              <p:ext uri="{D42A27DB-BD31-4B8C-83A1-F6EECF244321}">
                <p14:modId xmlns:p14="http://schemas.microsoft.com/office/powerpoint/2010/main" val="2943609305"/>
              </p:ext>
            </p:extLst>
          </p:nvPr>
        </p:nvGraphicFramePr>
        <p:xfrm>
          <a:off x="612775" y="960699"/>
          <a:ext cx="10963276" cy="4651590"/>
        </p:xfrm>
        <a:graphic>
          <a:graphicData uri="http://schemas.openxmlformats.org/drawingml/2006/table">
            <a:tbl>
              <a:tblPr>
                <a:tableStyleId>{93296810-A885-4BE3-A3E7-6D5BEEA58F35}</a:tableStyleId>
              </a:tblPr>
              <a:tblGrid>
                <a:gridCol w="5481638">
                  <a:extLst>
                    <a:ext uri="{9D8B030D-6E8A-4147-A177-3AD203B41FA5}">
                      <a16:colId xmlns:a16="http://schemas.microsoft.com/office/drawing/2014/main" val="324811391"/>
                    </a:ext>
                  </a:extLst>
                </a:gridCol>
                <a:gridCol w="5481638">
                  <a:extLst>
                    <a:ext uri="{9D8B030D-6E8A-4147-A177-3AD203B41FA5}">
                      <a16:colId xmlns:a16="http://schemas.microsoft.com/office/drawing/2014/main" val="1837475672"/>
                    </a:ext>
                  </a:extLst>
                </a:gridCol>
              </a:tblGrid>
              <a:tr h="516843">
                <a:tc>
                  <a:txBody>
                    <a:bodyPr/>
                    <a:lstStyle/>
                    <a:p>
                      <a:pPr>
                        <a:buNone/>
                      </a:pPr>
                      <a:r>
                        <a:rPr lang="en-IN" sz="1800" dirty="0"/>
                        <a:t>SIPOC</a:t>
                      </a:r>
                    </a:p>
                  </a:txBody>
                  <a:tcPr anchor="ctr"/>
                </a:tc>
                <a:tc>
                  <a:txBody>
                    <a:bodyPr/>
                    <a:lstStyle/>
                    <a:p>
                      <a:pPr>
                        <a:buNone/>
                      </a:pPr>
                      <a:r>
                        <a:rPr lang="en-IN" sz="1800"/>
                        <a:t>Details</a:t>
                      </a:r>
                    </a:p>
                  </a:txBody>
                  <a:tcPr anchor="ctr"/>
                </a:tc>
                <a:extLst>
                  <a:ext uri="{0D108BD9-81ED-4DB2-BD59-A6C34878D82A}">
                    <a16:rowId xmlns:a16="http://schemas.microsoft.com/office/drawing/2014/main" val="2890880311"/>
                  </a:ext>
                </a:extLst>
              </a:tr>
              <a:tr h="516843">
                <a:tc>
                  <a:txBody>
                    <a:bodyPr/>
                    <a:lstStyle/>
                    <a:p>
                      <a:pPr>
                        <a:buNone/>
                      </a:pPr>
                      <a:r>
                        <a:rPr lang="en-IN" sz="1800"/>
                        <a:t>Supplier</a:t>
                      </a:r>
                    </a:p>
                  </a:txBody>
                  <a:tcPr anchor="ctr"/>
                </a:tc>
                <a:tc>
                  <a:txBody>
                    <a:bodyPr/>
                    <a:lstStyle/>
                    <a:p>
                      <a:pPr>
                        <a:buNone/>
                      </a:pPr>
                      <a:r>
                        <a:rPr lang="en-IN" sz="1800"/>
                        <a:t>Crowd data, weather data, event information</a:t>
                      </a:r>
                    </a:p>
                  </a:txBody>
                  <a:tcPr anchor="ctr"/>
                </a:tc>
                <a:extLst>
                  <a:ext uri="{0D108BD9-81ED-4DB2-BD59-A6C34878D82A}">
                    <a16:rowId xmlns:a16="http://schemas.microsoft.com/office/drawing/2014/main" val="2057473158"/>
                  </a:ext>
                </a:extLst>
              </a:tr>
              <a:tr h="904476">
                <a:tc>
                  <a:txBody>
                    <a:bodyPr/>
                    <a:lstStyle/>
                    <a:p>
                      <a:pPr>
                        <a:buNone/>
                      </a:pPr>
                      <a:r>
                        <a:rPr lang="en-IN" sz="1800" dirty="0"/>
                        <a:t>Input</a:t>
                      </a:r>
                    </a:p>
                  </a:txBody>
                  <a:tcPr anchor="ctr"/>
                </a:tc>
                <a:tc>
                  <a:txBody>
                    <a:bodyPr/>
                    <a:lstStyle/>
                    <a:p>
                      <a:pPr>
                        <a:buNone/>
                      </a:pPr>
                      <a:r>
                        <a:rPr lang="en-IN" sz="1800"/>
                        <a:t>Crowd size, crowd movement, weather, event time, location details</a:t>
                      </a:r>
                    </a:p>
                  </a:txBody>
                  <a:tcPr anchor="ctr"/>
                </a:tc>
                <a:extLst>
                  <a:ext uri="{0D108BD9-81ED-4DB2-BD59-A6C34878D82A}">
                    <a16:rowId xmlns:a16="http://schemas.microsoft.com/office/drawing/2014/main" val="3716931762"/>
                  </a:ext>
                </a:extLst>
              </a:tr>
              <a:tr h="904476">
                <a:tc>
                  <a:txBody>
                    <a:bodyPr/>
                    <a:lstStyle/>
                    <a:p>
                      <a:pPr>
                        <a:buNone/>
                      </a:pPr>
                      <a:r>
                        <a:rPr lang="en-IN" sz="1800"/>
                        <a:t>Process</a:t>
                      </a:r>
                    </a:p>
                  </a:txBody>
                  <a:tcPr anchor="ctr"/>
                </a:tc>
                <a:tc>
                  <a:txBody>
                    <a:bodyPr/>
                    <a:lstStyle/>
                    <a:p>
                      <a:pPr>
                        <a:buNone/>
                      </a:pPr>
                      <a:r>
                        <a:rPr lang="en-IN" sz="1800" dirty="0"/>
                        <a:t>Data Collection → Data Cleaning → Data Analysis → Machine Learning Model → Prediction</a:t>
                      </a:r>
                    </a:p>
                  </a:txBody>
                  <a:tcPr anchor="ctr"/>
                </a:tc>
                <a:extLst>
                  <a:ext uri="{0D108BD9-81ED-4DB2-BD59-A6C34878D82A}">
                    <a16:rowId xmlns:a16="http://schemas.microsoft.com/office/drawing/2014/main" val="194618774"/>
                  </a:ext>
                </a:extLst>
              </a:tr>
              <a:tr h="904476">
                <a:tc>
                  <a:txBody>
                    <a:bodyPr/>
                    <a:lstStyle/>
                    <a:p>
                      <a:pPr>
                        <a:buNone/>
                      </a:pPr>
                      <a:r>
                        <a:rPr lang="en-IN" sz="1800"/>
                        <a:t>Output</a:t>
                      </a:r>
                    </a:p>
                  </a:txBody>
                  <a:tcPr anchor="ctr"/>
                </a:tc>
                <a:tc>
                  <a:txBody>
                    <a:bodyPr/>
                    <a:lstStyle/>
                    <a:p>
                      <a:pPr>
                        <a:buNone/>
                      </a:pPr>
                      <a:r>
                        <a:rPr lang="en-IN" sz="1800" dirty="0"/>
                        <a:t>Crowd Pressure Index and Risk Level: Safe, Moderate, Critical</a:t>
                      </a:r>
                    </a:p>
                  </a:txBody>
                  <a:tcPr anchor="ctr"/>
                </a:tc>
                <a:extLst>
                  <a:ext uri="{0D108BD9-81ED-4DB2-BD59-A6C34878D82A}">
                    <a16:rowId xmlns:a16="http://schemas.microsoft.com/office/drawing/2014/main" val="279189049"/>
                  </a:ext>
                </a:extLst>
              </a:tr>
              <a:tr h="904476">
                <a:tc>
                  <a:txBody>
                    <a:bodyPr/>
                    <a:lstStyle/>
                    <a:p>
                      <a:pPr>
                        <a:buNone/>
                      </a:pPr>
                      <a:r>
                        <a:rPr lang="en-IN" sz="1800"/>
                        <a:t>Customer</a:t>
                      </a:r>
                    </a:p>
                  </a:txBody>
                  <a:tcPr anchor="ctr"/>
                </a:tc>
                <a:tc>
                  <a:txBody>
                    <a:bodyPr/>
                    <a:lstStyle/>
                    <a:p>
                      <a:pPr>
                        <a:buNone/>
                      </a:pPr>
                      <a:r>
                        <a:rPr lang="en-IN" sz="1800" dirty="0"/>
                        <a:t>Temple authorities, event organizers, security teams, and emergency teams</a:t>
                      </a:r>
                    </a:p>
                  </a:txBody>
                  <a:tcPr anchor="ctr"/>
                </a:tc>
                <a:extLst>
                  <a:ext uri="{0D108BD9-81ED-4DB2-BD59-A6C34878D82A}">
                    <a16:rowId xmlns:a16="http://schemas.microsoft.com/office/drawing/2014/main" val="2741547865"/>
                  </a:ext>
                </a:extLst>
              </a:tr>
            </a:tbl>
          </a:graphicData>
        </a:graphic>
      </p:graphicFrame>
      <p:sp>
        <p:nvSpPr>
          <p:cNvPr id="6" name="TextBox 5">
            <a:extLst>
              <a:ext uri="{FF2B5EF4-FFF2-40B4-BE49-F238E27FC236}">
                <a16:creationId xmlns:a16="http://schemas.microsoft.com/office/drawing/2014/main" id="{F41452D3-28B3-5872-9CAD-3EC592A36DCB}"/>
              </a:ext>
            </a:extLst>
          </p:cNvPr>
          <p:cNvSpPr txBox="1"/>
          <p:nvPr/>
        </p:nvSpPr>
        <p:spPr>
          <a:xfrm flipH="1">
            <a:off x="486137" y="235970"/>
            <a:ext cx="7326773" cy="369332"/>
          </a:xfrm>
          <a:prstGeom prst="rect">
            <a:avLst/>
          </a:prstGeom>
          <a:noFill/>
        </p:spPr>
        <p:txBody>
          <a:bodyPr wrap="square">
            <a:spAutoFit/>
          </a:bodyPr>
          <a:lstStyle/>
          <a:p>
            <a:pPr>
              <a:buNone/>
            </a:pPr>
            <a:r>
              <a:rPr lang="en-IN" b="1" dirty="0"/>
              <a:t>SIPOC – Supplier, Input, Process, Output, Customer</a:t>
            </a:r>
          </a:p>
        </p:txBody>
      </p:sp>
    </p:spTree>
    <p:extLst>
      <p:ext uri="{BB962C8B-B14F-4D97-AF65-F5344CB8AC3E}">
        <p14:creationId xmlns:p14="http://schemas.microsoft.com/office/powerpoint/2010/main" val="655039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3116F4-A429-89F3-3191-83D7FE90E43E}"/>
              </a:ext>
            </a:extLst>
          </p:cNvPr>
          <p:cNvSpPr>
            <a:spLocks noGrp="1"/>
          </p:cNvSpPr>
          <p:nvPr>
            <p:ph type="ctrTitle"/>
          </p:nvPr>
        </p:nvSpPr>
        <p:spPr>
          <a:xfrm>
            <a:off x="496899" y="881065"/>
            <a:ext cx="11320853" cy="4906277"/>
          </a:xfrm>
        </p:spPr>
        <p:txBody>
          <a:bodyPr>
            <a:noAutofit/>
          </a:bodyPr>
          <a:lstStyle/>
          <a:p>
            <a:r>
              <a:rPr lang="en-IN" sz="2000" dirty="0">
                <a:latin typeface="Times New Roman" panose="02020603050405020304" pitchFamily="18" charset="0"/>
                <a:cs typeface="Times New Roman" panose="02020603050405020304" pitchFamily="18" charset="0"/>
              </a:rPr>
              <a:t>Dataset</a:t>
            </a:r>
            <a:br>
              <a:rPr lang="en-IN" sz="20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Keys and Features</a:t>
            </a:r>
            <a:br>
              <a:rPr lang="en-IN" sz="180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Date &amp; Time – Time of the crowd observation</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Crowd Density – Number of people in a given area</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Crowd Flow – Movement of people</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Temperature – Weather temperature</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Humidity – Level of moisture in the air</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Event Type – Type of religious event</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Location – Area where the crowd is present</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Crowd Pressure Index – Target value to be predicted</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Risk Level – Safe, Moderate, or Critical</a:t>
            </a:r>
            <a:br>
              <a:rPr lang="en-IN" sz="2000" b="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Source of Dataset</a:t>
            </a:r>
            <a:br>
              <a:rPr lang="en-IN"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India Crowd Flow Dataset – Kaggle</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The dataset contains information about crowd movement, crowd conditions, weather, and event-related factors, which is used to train and test the Machine Learning model.</a:t>
            </a:r>
            <a:br>
              <a:rPr lang="en-IN" sz="2000" b="0" dirty="0">
                <a:latin typeface="Times New Roman" panose="02020603050405020304" pitchFamily="18" charset="0"/>
                <a:cs typeface="Times New Roman" panose="02020603050405020304" pitchFamily="18" charset="0"/>
              </a:rPr>
            </a:br>
            <a:endParaRPr lang="en-IN" sz="20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4306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0B77C-0BD2-A890-993A-89C0EE2DB5E8}"/>
              </a:ext>
            </a:extLst>
          </p:cNvPr>
          <p:cNvSpPr>
            <a:spLocks noGrp="1"/>
          </p:cNvSpPr>
          <p:nvPr>
            <p:ph type="ctrTitle"/>
          </p:nvPr>
        </p:nvSpPr>
        <p:spPr>
          <a:xfrm>
            <a:off x="520861" y="486137"/>
            <a:ext cx="11933498" cy="6227179"/>
          </a:xfrm>
        </p:spPr>
        <p:txBody>
          <a:bodyPr>
            <a:noAutofit/>
          </a:bodyPr>
          <a:lstStyle/>
          <a:p>
            <a:r>
              <a:rPr lang="en-IN" sz="2000" dirty="0">
                <a:latin typeface="Times New Roman" panose="02020603050405020304" pitchFamily="18" charset="0"/>
                <a:cs typeface="Times New Roman" panose="02020603050405020304" pitchFamily="18" charset="0"/>
              </a:rPr>
              <a:t>Proposed Solution</a:t>
            </a:r>
            <a:br>
              <a:rPr lang="en-IN" sz="180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Collect crowd, weather, and event-related data.</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Clean and prepare the dataset for Machine Learning.</a:t>
            </a:r>
            <a:br>
              <a:rPr lang="en-IN" sz="2000" b="0" dirty="0">
                <a:latin typeface="Times New Roman" panose="02020603050405020304" pitchFamily="18" charset="0"/>
                <a:cs typeface="Times New Roman" panose="02020603050405020304" pitchFamily="18" charset="0"/>
              </a:rPr>
            </a:br>
            <a:r>
              <a:rPr lang="en-IN" sz="2000" b="0" dirty="0" err="1">
                <a:latin typeface="Times New Roman" panose="02020603050405020304" pitchFamily="18" charset="0"/>
                <a:cs typeface="Times New Roman" panose="02020603050405020304" pitchFamily="18" charset="0"/>
              </a:rPr>
              <a:t>Analyze</a:t>
            </a:r>
            <a:r>
              <a:rPr lang="en-IN" sz="2000" b="0" dirty="0">
                <a:latin typeface="Times New Roman" panose="02020603050405020304" pitchFamily="18" charset="0"/>
                <a:cs typeface="Times New Roman" panose="02020603050405020304" pitchFamily="18" charset="0"/>
              </a:rPr>
              <a:t> the important factors affecting crowd pressure.</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Train a Machine Learning model using the collected data.</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Predict the Crowd Pressure Index.</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Classify the crowd risk as Safe, Moderate, or Critical.</a:t>
            </a:r>
            <a:br>
              <a:rPr lang="en-IN" sz="2000" b="0" dirty="0">
                <a:latin typeface="Times New Roman" panose="02020603050405020304" pitchFamily="18" charset="0"/>
                <a:cs typeface="Times New Roman" panose="02020603050405020304" pitchFamily="18" charset="0"/>
              </a:rPr>
            </a:br>
            <a:r>
              <a:rPr lang="en-IN" sz="2000" b="0" dirty="0">
                <a:latin typeface="Times New Roman" panose="02020603050405020304" pitchFamily="18" charset="0"/>
                <a:cs typeface="Times New Roman" panose="02020603050405020304" pitchFamily="18" charset="0"/>
              </a:rPr>
              <a:t>Provide early information to help in crowd management and safety.</a:t>
            </a:r>
            <a:br>
              <a:rPr lang="en-IN" sz="2000" b="0" dirty="0">
                <a:latin typeface="Times New Roman" panose="02020603050405020304" pitchFamily="18" charset="0"/>
                <a:cs typeface="Times New Roman" panose="02020603050405020304" pitchFamily="18" charset="0"/>
              </a:rPr>
            </a:br>
            <a:br>
              <a:rPr lang="en-IN" sz="20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Algorithms Used</a:t>
            </a:r>
            <a:br>
              <a:rPr lang="en-IN" sz="1800" dirty="0">
                <a:latin typeface="Times New Roman" panose="02020603050405020304" pitchFamily="18" charset="0"/>
                <a:cs typeface="Times New Roman" panose="02020603050405020304" pitchFamily="18" charset="0"/>
              </a:rPr>
            </a:br>
            <a:r>
              <a:rPr lang="en-IN" sz="1800" b="0" dirty="0">
                <a:latin typeface="Times New Roman" panose="02020603050405020304" pitchFamily="18" charset="0"/>
                <a:cs typeface="Times New Roman" panose="02020603050405020304" pitchFamily="18" charset="0"/>
              </a:rPr>
              <a:t>Random Forest Regression – To predict the Crowd Pressure Index.</a:t>
            </a:r>
            <a:br>
              <a:rPr lang="en-IN" sz="1800" b="0" dirty="0">
                <a:latin typeface="Times New Roman" panose="02020603050405020304" pitchFamily="18" charset="0"/>
                <a:cs typeface="Times New Roman" panose="02020603050405020304" pitchFamily="18" charset="0"/>
              </a:rPr>
            </a:br>
            <a:r>
              <a:rPr lang="en-IN" sz="1800" b="0" dirty="0">
                <a:latin typeface="Times New Roman" panose="02020603050405020304" pitchFamily="18" charset="0"/>
                <a:cs typeface="Times New Roman" panose="02020603050405020304" pitchFamily="18" charset="0"/>
              </a:rPr>
              <a:t>Random Forest Classification – To predict the Risk Level.</a:t>
            </a:r>
            <a:br>
              <a:rPr lang="en-IN"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br>
              <a:rPr lang="en-IN" sz="1800" dirty="0">
                <a:latin typeface="Times New Roman" panose="02020603050405020304" pitchFamily="18" charset="0"/>
                <a:cs typeface="Times New Roman" panose="02020603050405020304" pitchFamily="18" charset="0"/>
              </a:rPr>
            </a:br>
            <a:r>
              <a:rPr lang="en-IN" sz="2000" dirty="0">
                <a:latin typeface="Times New Roman" panose="02020603050405020304" pitchFamily="18" charset="0"/>
                <a:cs typeface="Times New Roman" panose="02020603050405020304" pitchFamily="18" charset="0"/>
              </a:rPr>
              <a:t>Reason for Selection of Algorithm</a:t>
            </a:r>
            <a:br>
              <a:rPr lang="en-IN" sz="1800" dirty="0">
                <a:latin typeface="Times New Roman" panose="02020603050405020304" pitchFamily="18" charset="0"/>
                <a:cs typeface="Times New Roman" panose="02020603050405020304" pitchFamily="18" charset="0"/>
              </a:rPr>
            </a:br>
            <a:r>
              <a:rPr lang="en-IN" sz="1800" b="0" dirty="0">
                <a:latin typeface="Times New Roman" panose="02020603050405020304" pitchFamily="18" charset="0"/>
                <a:cs typeface="Times New Roman" panose="02020603050405020304" pitchFamily="18" charset="0"/>
              </a:rPr>
              <a:t>Random Forest is selected because:</a:t>
            </a:r>
            <a:br>
              <a:rPr lang="en-IN" sz="1800" b="0" dirty="0">
                <a:latin typeface="Times New Roman" panose="02020603050405020304" pitchFamily="18" charset="0"/>
                <a:cs typeface="Times New Roman" panose="02020603050405020304" pitchFamily="18" charset="0"/>
              </a:rPr>
            </a:br>
            <a:r>
              <a:rPr lang="en-IN" sz="1800" b="0" dirty="0">
                <a:latin typeface="Times New Roman" panose="02020603050405020304" pitchFamily="18" charset="0"/>
                <a:cs typeface="Times New Roman" panose="02020603050405020304" pitchFamily="18" charset="0"/>
              </a:rPr>
              <a:t>It works well with different types of data.</a:t>
            </a:r>
            <a:br>
              <a:rPr lang="en-IN" sz="1800" b="0" dirty="0">
                <a:latin typeface="Times New Roman" panose="02020603050405020304" pitchFamily="18" charset="0"/>
                <a:cs typeface="Times New Roman" panose="02020603050405020304" pitchFamily="18" charset="0"/>
              </a:rPr>
            </a:br>
            <a:r>
              <a:rPr lang="en-IN" sz="1800" b="0" dirty="0">
                <a:latin typeface="Times New Roman" panose="02020603050405020304" pitchFamily="18" charset="0"/>
                <a:cs typeface="Times New Roman" panose="02020603050405020304" pitchFamily="18" charset="0"/>
              </a:rPr>
              <a:t>It can handle multiple input features.</a:t>
            </a:r>
            <a:br>
              <a:rPr lang="en-IN" sz="1800" b="0" dirty="0">
                <a:latin typeface="Times New Roman" panose="02020603050405020304" pitchFamily="18" charset="0"/>
                <a:cs typeface="Times New Roman" panose="02020603050405020304" pitchFamily="18" charset="0"/>
              </a:rPr>
            </a:br>
            <a:r>
              <a:rPr lang="en-IN" sz="1800" b="0" dirty="0">
                <a:latin typeface="Times New Roman" panose="02020603050405020304" pitchFamily="18" charset="0"/>
                <a:cs typeface="Times New Roman" panose="02020603050405020304" pitchFamily="18" charset="0"/>
              </a:rPr>
              <a:t>It can capture complex relationships in the data.</a:t>
            </a:r>
            <a:br>
              <a:rPr lang="en-IN" sz="1800" b="0" dirty="0">
                <a:latin typeface="Times New Roman" panose="02020603050405020304" pitchFamily="18" charset="0"/>
                <a:cs typeface="Times New Roman" panose="02020603050405020304" pitchFamily="18" charset="0"/>
              </a:rPr>
            </a:br>
            <a:r>
              <a:rPr lang="en-IN" sz="1800" b="0" dirty="0">
                <a:latin typeface="Times New Roman" panose="02020603050405020304" pitchFamily="18" charset="0"/>
                <a:cs typeface="Times New Roman" panose="02020603050405020304" pitchFamily="18" charset="0"/>
              </a:rPr>
              <a:t>It provides good prediction performance.</a:t>
            </a:r>
            <a:br>
              <a:rPr lang="en-IN" sz="1800" b="0" dirty="0">
                <a:latin typeface="Times New Roman" panose="02020603050405020304" pitchFamily="18" charset="0"/>
                <a:cs typeface="Times New Roman" panose="02020603050405020304" pitchFamily="18" charset="0"/>
              </a:rPr>
            </a:br>
            <a:r>
              <a:rPr lang="en-IN" sz="1800" b="0" dirty="0">
                <a:latin typeface="Times New Roman" panose="02020603050405020304" pitchFamily="18" charset="0"/>
                <a:cs typeface="Times New Roman" panose="02020603050405020304" pitchFamily="18" charset="0"/>
              </a:rPr>
              <a:t>It is less affected by noise and overfitting compared with a single decision tree.</a:t>
            </a:r>
            <a:br>
              <a:rPr lang="en-IN" sz="1800" b="0" dirty="0">
                <a:latin typeface="Times New Roman" panose="02020603050405020304" pitchFamily="18" charset="0"/>
                <a:cs typeface="Times New Roman" panose="02020603050405020304" pitchFamily="18" charset="0"/>
              </a:rPr>
            </a:br>
            <a:endParaRPr lang="en-IN" sz="18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00805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DD67E-AE7D-BFA7-B4C7-59D70BDA3882}"/>
              </a:ext>
            </a:extLst>
          </p:cNvPr>
          <p:cNvSpPr>
            <a:spLocks noGrp="1"/>
          </p:cNvSpPr>
          <p:nvPr>
            <p:ph type="ctrTitle"/>
          </p:nvPr>
        </p:nvSpPr>
        <p:spPr>
          <a:xfrm>
            <a:off x="497711" y="196771"/>
            <a:ext cx="6852213" cy="1147397"/>
          </a:xfrm>
        </p:spPr>
        <p:txBody>
          <a:bodyPr>
            <a:normAutofit/>
          </a:bodyPr>
          <a:lstStyle/>
          <a:p>
            <a:r>
              <a:rPr lang="en-IN" sz="2400" dirty="0"/>
              <a:t>Important Commands Used</a:t>
            </a:r>
            <a:br>
              <a:rPr lang="en-IN" sz="2400" dirty="0"/>
            </a:br>
            <a:endParaRPr lang="en-IN" sz="2400" dirty="0"/>
          </a:p>
        </p:txBody>
      </p:sp>
      <p:sp>
        <p:nvSpPr>
          <p:cNvPr id="3" name="Subtitle 2">
            <a:extLst>
              <a:ext uri="{FF2B5EF4-FFF2-40B4-BE49-F238E27FC236}">
                <a16:creationId xmlns:a16="http://schemas.microsoft.com/office/drawing/2014/main" id="{334328A5-891D-D1D7-3EB4-E90FCF362528}"/>
              </a:ext>
            </a:extLst>
          </p:cNvPr>
          <p:cNvSpPr>
            <a:spLocks noGrp="1"/>
          </p:cNvSpPr>
          <p:nvPr>
            <p:ph type="subTitle" idx="1"/>
          </p:nvPr>
        </p:nvSpPr>
        <p:spPr/>
        <p:txBody>
          <a:bodyPr/>
          <a:lstStyle/>
          <a:p>
            <a:endParaRPr lang="en-IN"/>
          </a:p>
        </p:txBody>
      </p:sp>
      <p:graphicFrame>
        <p:nvGraphicFramePr>
          <p:cNvPr id="4" name="Table 3">
            <a:extLst>
              <a:ext uri="{FF2B5EF4-FFF2-40B4-BE49-F238E27FC236}">
                <a16:creationId xmlns:a16="http://schemas.microsoft.com/office/drawing/2014/main" id="{018A49D9-36D6-2203-A2FF-66BB09B8677F}"/>
              </a:ext>
            </a:extLst>
          </p:cNvPr>
          <p:cNvGraphicFramePr>
            <a:graphicFrameLocks noGrp="1"/>
          </p:cNvGraphicFramePr>
          <p:nvPr>
            <p:extLst>
              <p:ext uri="{D42A27DB-BD31-4B8C-83A1-F6EECF244321}">
                <p14:modId xmlns:p14="http://schemas.microsoft.com/office/powerpoint/2010/main" val="4153052053"/>
              </p:ext>
            </p:extLst>
          </p:nvPr>
        </p:nvGraphicFramePr>
        <p:xfrm>
          <a:off x="393539" y="1458411"/>
          <a:ext cx="11505237" cy="4710888"/>
        </p:xfrm>
        <a:graphic>
          <a:graphicData uri="http://schemas.openxmlformats.org/drawingml/2006/table">
            <a:tbl>
              <a:tblPr>
                <a:tableStyleId>{5C22544A-7EE6-4342-B048-85BDC9FD1C3A}</a:tableStyleId>
              </a:tblPr>
              <a:tblGrid>
                <a:gridCol w="3835079">
                  <a:extLst>
                    <a:ext uri="{9D8B030D-6E8A-4147-A177-3AD203B41FA5}">
                      <a16:colId xmlns:a16="http://schemas.microsoft.com/office/drawing/2014/main" val="60121998"/>
                    </a:ext>
                  </a:extLst>
                </a:gridCol>
                <a:gridCol w="3835079">
                  <a:extLst>
                    <a:ext uri="{9D8B030D-6E8A-4147-A177-3AD203B41FA5}">
                      <a16:colId xmlns:a16="http://schemas.microsoft.com/office/drawing/2014/main" val="3379845913"/>
                    </a:ext>
                  </a:extLst>
                </a:gridCol>
                <a:gridCol w="3835079">
                  <a:extLst>
                    <a:ext uri="{9D8B030D-6E8A-4147-A177-3AD203B41FA5}">
                      <a16:colId xmlns:a16="http://schemas.microsoft.com/office/drawing/2014/main" val="2851193139"/>
                    </a:ext>
                  </a:extLst>
                </a:gridCol>
              </a:tblGrid>
              <a:tr h="523432">
                <a:tc>
                  <a:txBody>
                    <a:bodyPr/>
                    <a:lstStyle/>
                    <a:p>
                      <a:pPr>
                        <a:buNone/>
                      </a:pPr>
                      <a:r>
                        <a:rPr lang="en-IN"/>
                        <a:t>Command / Function</a:t>
                      </a:r>
                    </a:p>
                  </a:txBody>
                  <a:tcPr anchor="ctr"/>
                </a:tc>
                <a:tc>
                  <a:txBody>
                    <a:bodyPr/>
                    <a:lstStyle/>
                    <a:p>
                      <a:pPr>
                        <a:buNone/>
                      </a:pPr>
                      <a:r>
                        <a:rPr lang="en-IN"/>
                        <a:t>Purpose</a:t>
                      </a:r>
                    </a:p>
                  </a:txBody>
                  <a:tcPr anchor="ctr"/>
                </a:tc>
                <a:tc>
                  <a:txBody>
                    <a:bodyPr/>
                    <a:lstStyle/>
                    <a:p>
                      <a:pPr>
                        <a:buNone/>
                      </a:pPr>
                      <a:r>
                        <a:rPr lang="en-IN"/>
                        <a:t>Role</a:t>
                      </a:r>
                    </a:p>
                  </a:txBody>
                  <a:tcPr anchor="ctr"/>
                </a:tc>
                <a:extLst>
                  <a:ext uri="{0D108BD9-81ED-4DB2-BD59-A6C34878D82A}">
                    <a16:rowId xmlns:a16="http://schemas.microsoft.com/office/drawing/2014/main" val="1794617262"/>
                  </a:ext>
                </a:extLst>
              </a:tr>
              <a:tr h="523432">
                <a:tc>
                  <a:txBody>
                    <a:bodyPr/>
                    <a:lstStyle/>
                    <a:p>
                      <a:pPr>
                        <a:buNone/>
                      </a:pPr>
                      <a:r>
                        <a:rPr lang="en-IN"/>
                        <a:t>pd.read_excel()</a:t>
                      </a:r>
                    </a:p>
                  </a:txBody>
                  <a:tcPr anchor="ctr"/>
                </a:tc>
                <a:tc>
                  <a:txBody>
                    <a:bodyPr/>
                    <a:lstStyle/>
                    <a:p>
                      <a:pPr>
                        <a:buNone/>
                      </a:pPr>
                      <a:r>
                        <a:rPr lang="en-IN"/>
                        <a:t>Load dataset</a:t>
                      </a:r>
                    </a:p>
                  </a:txBody>
                  <a:tcPr anchor="ctr"/>
                </a:tc>
                <a:tc>
                  <a:txBody>
                    <a:bodyPr/>
                    <a:lstStyle/>
                    <a:p>
                      <a:pPr>
                        <a:buNone/>
                      </a:pPr>
                      <a:r>
                        <a:rPr lang="en-IN"/>
                        <a:t>Reads project data</a:t>
                      </a:r>
                    </a:p>
                  </a:txBody>
                  <a:tcPr anchor="ctr"/>
                </a:tc>
                <a:extLst>
                  <a:ext uri="{0D108BD9-81ED-4DB2-BD59-A6C34878D82A}">
                    <a16:rowId xmlns:a16="http://schemas.microsoft.com/office/drawing/2014/main" val="1835732725"/>
                  </a:ext>
                </a:extLst>
              </a:tr>
              <a:tr h="523432">
                <a:tc>
                  <a:txBody>
                    <a:bodyPr/>
                    <a:lstStyle/>
                    <a:p>
                      <a:pPr>
                        <a:buNone/>
                      </a:pPr>
                      <a:r>
                        <a:rPr lang="en-IN"/>
                        <a:t>df.info()</a:t>
                      </a:r>
                    </a:p>
                  </a:txBody>
                  <a:tcPr anchor="ctr"/>
                </a:tc>
                <a:tc>
                  <a:txBody>
                    <a:bodyPr/>
                    <a:lstStyle/>
                    <a:p>
                      <a:pPr>
                        <a:buNone/>
                      </a:pPr>
                      <a:r>
                        <a:rPr lang="en-IN"/>
                        <a:t>Check data details</a:t>
                      </a:r>
                    </a:p>
                  </a:txBody>
                  <a:tcPr anchor="ctr"/>
                </a:tc>
                <a:tc>
                  <a:txBody>
                    <a:bodyPr/>
                    <a:lstStyle/>
                    <a:p>
                      <a:pPr>
                        <a:buNone/>
                      </a:pPr>
                      <a:r>
                        <a:rPr lang="en-IN"/>
                        <a:t>Understands columns and data types</a:t>
                      </a:r>
                    </a:p>
                  </a:txBody>
                  <a:tcPr anchor="ctr"/>
                </a:tc>
                <a:extLst>
                  <a:ext uri="{0D108BD9-81ED-4DB2-BD59-A6C34878D82A}">
                    <a16:rowId xmlns:a16="http://schemas.microsoft.com/office/drawing/2014/main" val="2158028173"/>
                  </a:ext>
                </a:extLst>
              </a:tr>
              <a:tr h="523432">
                <a:tc>
                  <a:txBody>
                    <a:bodyPr/>
                    <a:lstStyle/>
                    <a:p>
                      <a:pPr>
                        <a:buNone/>
                      </a:pPr>
                      <a:r>
                        <a:rPr lang="en-IN"/>
                        <a:t>df.isnull().sum()</a:t>
                      </a:r>
                    </a:p>
                  </a:txBody>
                  <a:tcPr anchor="ctr"/>
                </a:tc>
                <a:tc>
                  <a:txBody>
                    <a:bodyPr/>
                    <a:lstStyle/>
                    <a:p>
                      <a:pPr>
                        <a:buNone/>
                      </a:pPr>
                      <a:r>
                        <a:rPr lang="en-IN"/>
                        <a:t>Find missing values</a:t>
                      </a:r>
                    </a:p>
                  </a:txBody>
                  <a:tcPr anchor="ctr"/>
                </a:tc>
                <a:tc>
                  <a:txBody>
                    <a:bodyPr/>
                    <a:lstStyle/>
                    <a:p>
                      <a:pPr>
                        <a:buNone/>
                      </a:pPr>
                      <a:r>
                        <a:rPr lang="en-IN"/>
                        <a:t>Helps clean the data</a:t>
                      </a:r>
                    </a:p>
                  </a:txBody>
                  <a:tcPr anchor="ctr"/>
                </a:tc>
                <a:extLst>
                  <a:ext uri="{0D108BD9-81ED-4DB2-BD59-A6C34878D82A}">
                    <a16:rowId xmlns:a16="http://schemas.microsoft.com/office/drawing/2014/main" val="1710395652"/>
                  </a:ext>
                </a:extLst>
              </a:tr>
              <a:tr h="523432">
                <a:tc>
                  <a:txBody>
                    <a:bodyPr/>
                    <a:lstStyle/>
                    <a:p>
                      <a:pPr>
                        <a:buNone/>
                      </a:pPr>
                      <a:r>
                        <a:rPr lang="en-IN"/>
                        <a:t>train_test_split()</a:t>
                      </a:r>
                    </a:p>
                  </a:txBody>
                  <a:tcPr anchor="ctr"/>
                </a:tc>
                <a:tc>
                  <a:txBody>
                    <a:bodyPr/>
                    <a:lstStyle/>
                    <a:p>
                      <a:pPr>
                        <a:buNone/>
                      </a:pPr>
                      <a:r>
                        <a:rPr lang="en-IN"/>
                        <a:t>Split the data</a:t>
                      </a:r>
                    </a:p>
                  </a:txBody>
                  <a:tcPr anchor="ctr"/>
                </a:tc>
                <a:tc>
                  <a:txBody>
                    <a:bodyPr/>
                    <a:lstStyle/>
                    <a:p>
                      <a:pPr>
                        <a:buNone/>
                      </a:pPr>
                      <a:r>
                        <a:rPr lang="en-IN" dirty="0"/>
                        <a:t>Creates training and testing data</a:t>
                      </a:r>
                    </a:p>
                  </a:txBody>
                  <a:tcPr anchor="ctr"/>
                </a:tc>
                <a:extLst>
                  <a:ext uri="{0D108BD9-81ED-4DB2-BD59-A6C34878D82A}">
                    <a16:rowId xmlns:a16="http://schemas.microsoft.com/office/drawing/2014/main" val="3611973224"/>
                  </a:ext>
                </a:extLst>
              </a:tr>
              <a:tr h="523432">
                <a:tc>
                  <a:txBody>
                    <a:bodyPr/>
                    <a:lstStyle/>
                    <a:p>
                      <a:pPr>
                        <a:buNone/>
                      </a:pPr>
                      <a:r>
                        <a:rPr lang="en-IN"/>
                        <a:t>RandomForestRegressor()</a:t>
                      </a:r>
                    </a:p>
                  </a:txBody>
                  <a:tcPr anchor="ctr"/>
                </a:tc>
                <a:tc>
                  <a:txBody>
                    <a:bodyPr/>
                    <a:lstStyle/>
                    <a:p>
                      <a:pPr>
                        <a:buNone/>
                      </a:pPr>
                      <a:r>
                        <a:rPr lang="en-IN" dirty="0"/>
                        <a:t>Predict pressure</a:t>
                      </a:r>
                    </a:p>
                  </a:txBody>
                  <a:tcPr anchor="ctr"/>
                </a:tc>
                <a:tc>
                  <a:txBody>
                    <a:bodyPr/>
                    <a:lstStyle/>
                    <a:p>
                      <a:pPr>
                        <a:buNone/>
                      </a:pPr>
                      <a:r>
                        <a:rPr lang="en-IN"/>
                        <a:t>Calculates Crowd Pressure Index</a:t>
                      </a:r>
                    </a:p>
                  </a:txBody>
                  <a:tcPr anchor="ctr"/>
                </a:tc>
                <a:extLst>
                  <a:ext uri="{0D108BD9-81ED-4DB2-BD59-A6C34878D82A}">
                    <a16:rowId xmlns:a16="http://schemas.microsoft.com/office/drawing/2014/main" val="1859975462"/>
                  </a:ext>
                </a:extLst>
              </a:tr>
              <a:tr h="523432">
                <a:tc>
                  <a:txBody>
                    <a:bodyPr/>
                    <a:lstStyle/>
                    <a:p>
                      <a:pPr>
                        <a:buNone/>
                      </a:pPr>
                      <a:r>
                        <a:rPr lang="en-IN"/>
                        <a:t>RandomForestClassifier()</a:t>
                      </a:r>
                    </a:p>
                  </a:txBody>
                  <a:tcPr anchor="ctr"/>
                </a:tc>
                <a:tc>
                  <a:txBody>
                    <a:bodyPr/>
                    <a:lstStyle/>
                    <a:p>
                      <a:pPr>
                        <a:buNone/>
                      </a:pPr>
                      <a:r>
                        <a:rPr lang="en-IN"/>
                        <a:t>Predict risk</a:t>
                      </a:r>
                    </a:p>
                  </a:txBody>
                  <a:tcPr anchor="ctr"/>
                </a:tc>
                <a:tc>
                  <a:txBody>
                    <a:bodyPr/>
                    <a:lstStyle/>
                    <a:p>
                      <a:pPr>
                        <a:buNone/>
                      </a:pPr>
                      <a:r>
                        <a:rPr lang="en-IN"/>
                        <a:t>Identifies Safe, Moderate, or Critical</a:t>
                      </a:r>
                    </a:p>
                  </a:txBody>
                  <a:tcPr anchor="ctr"/>
                </a:tc>
                <a:extLst>
                  <a:ext uri="{0D108BD9-81ED-4DB2-BD59-A6C34878D82A}">
                    <a16:rowId xmlns:a16="http://schemas.microsoft.com/office/drawing/2014/main" val="2222875462"/>
                  </a:ext>
                </a:extLst>
              </a:tr>
              <a:tr h="523432">
                <a:tc>
                  <a:txBody>
                    <a:bodyPr/>
                    <a:lstStyle/>
                    <a:p>
                      <a:pPr>
                        <a:buNone/>
                      </a:pPr>
                      <a:r>
                        <a:rPr lang="en-IN"/>
                        <a:t>model.fit()</a:t>
                      </a:r>
                    </a:p>
                  </a:txBody>
                  <a:tcPr anchor="ctr"/>
                </a:tc>
                <a:tc>
                  <a:txBody>
                    <a:bodyPr/>
                    <a:lstStyle/>
                    <a:p>
                      <a:pPr>
                        <a:buNone/>
                      </a:pPr>
                      <a:r>
                        <a:rPr lang="en-IN"/>
                        <a:t>Train model</a:t>
                      </a:r>
                    </a:p>
                  </a:txBody>
                  <a:tcPr anchor="ctr"/>
                </a:tc>
                <a:tc>
                  <a:txBody>
                    <a:bodyPr/>
                    <a:lstStyle/>
                    <a:p>
                      <a:pPr>
                        <a:buNone/>
                      </a:pPr>
                      <a:r>
                        <a:rPr lang="en-IN"/>
                        <a:t>Learns from the dataset</a:t>
                      </a:r>
                    </a:p>
                  </a:txBody>
                  <a:tcPr anchor="ctr"/>
                </a:tc>
                <a:extLst>
                  <a:ext uri="{0D108BD9-81ED-4DB2-BD59-A6C34878D82A}">
                    <a16:rowId xmlns:a16="http://schemas.microsoft.com/office/drawing/2014/main" val="2548155957"/>
                  </a:ext>
                </a:extLst>
              </a:tr>
              <a:tr h="523432">
                <a:tc>
                  <a:txBody>
                    <a:bodyPr/>
                    <a:lstStyle/>
                    <a:p>
                      <a:pPr>
                        <a:buNone/>
                      </a:pPr>
                      <a:r>
                        <a:rPr lang="en-IN"/>
                        <a:t>model.predict()</a:t>
                      </a:r>
                    </a:p>
                  </a:txBody>
                  <a:tcPr anchor="ctr"/>
                </a:tc>
                <a:tc>
                  <a:txBody>
                    <a:bodyPr/>
                    <a:lstStyle/>
                    <a:p>
                      <a:pPr>
                        <a:buNone/>
                      </a:pPr>
                      <a:r>
                        <a:rPr lang="en-IN" dirty="0"/>
                        <a:t>Make prediction</a:t>
                      </a:r>
                    </a:p>
                  </a:txBody>
                  <a:tcPr anchor="ctr"/>
                </a:tc>
                <a:tc>
                  <a:txBody>
                    <a:bodyPr/>
                    <a:lstStyle/>
                    <a:p>
                      <a:pPr>
                        <a:buNone/>
                      </a:pPr>
                      <a:r>
                        <a:rPr lang="en-IN" dirty="0"/>
                        <a:t>Gives the final output</a:t>
                      </a:r>
                    </a:p>
                  </a:txBody>
                  <a:tcPr anchor="ctr"/>
                </a:tc>
                <a:extLst>
                  <a:ext uri="{0D108BD9-81ED-4DB2-BD59-A6C34878D82A}">
                    <a16:rowId xmlns:a16="http://schemas.microsoft.com/office/drawing/2014/main" val="1949326702"/>
                  </a:ext>
                </a:extLst>
              </a:tr>
            </a:tbl>
          </a:graphicData>
        </a:graphic>
      </p:graphicFrame>
    </p:spTree>
    <p:extLst>
      <p:ext uri="{BB962C8B-B14F-4D97-AF65-F5344CB8AC3E}">
        <p14:creationId xmlns:p14="http://schemas.microsoft.com/office/powerpoint/2010/main" val="1156903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0649D-44BB-9A7E-93DE-39B8CD45D543}"/>
              </a:ext>
            </a:extLst>
          </p:cNvPr>
          <p:cNvSpPr>
            <a:spLocks noGrp="1"/>
          </p:cNvSpPr>
          <p:nvPr>
            <p:ph type="ctrTitle"/>
          </p:nvPr>
        </p:nvSpPr>
        <p:spPr>
          <a:xfrm>
            <a:off x="612647" y="1143000"/>
            <a:ext cx="8683753" cy="89703"/>
          </a:xfrm>
        </p:spPr>
        <p:txBody>
          <a:bodyPr>
            <a:noAutofit/>
          </a:bodyPr>
          <a:lstStyle/>
          <a:p>
            <a:r>
              <a:rPr lang="en-IN" sz="2400" dirty="0"/>
              <a:t>Scope for Further Research and Development</a:t>
            </a:r>
            <a:br>
              <a:rPr lang="en-IN" sz="2000" dirty="0"/>
            </a:br>
            <a:br>
              <a:rPr lang="en-IN" sz="2000" dirty="0"/>
            </a:br>
            <a:endParaRPr lang="en-IN" sz="2000" dirty="0"/>
          </a:p>
        </p:txBody>
      </p:sp>
      <p:sp>
        <p:nvSpPr>
          <p:cNvPr id="3" name="Subtitle 2">
            <a:extLst>
              <a:ext uri="{FF2B5EF4-FFF2-40B4-BE49-F238E27FC236}">
                <a16:creationId xmlns:a16="http://schemas.microsoft.com/office/drawing/2014/main" id="{FE06593A-EA95-2BE0-CD72-D5768D9CE145}"/>
              </a:ext>
            </a:extLst>
          </p:cNvPr>
          <p:cNvSpPr>
            <a:spLocks noGrp="1"/>
          </p:cNvSpPr>
          <p:nvPr>
            <p:ph type="subTitle" idx="1"/>
          </p:nvPr>
        </p:nvSpPr>
        <p:spPr>
          <a:xfrm>
            <a:off x="311705" y="821802"/>
            <a:ext cx="11158806" cy="3738623"/>
          </a:xfrm>
        </p:spPr>
        <p:txBody>
          <a:bodyPr>
            <a:noAutofit/>
          </a:bodyPr>
          <a:lstStyle/>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Real-Time Prediction: Use live crowd data from CCTV cameras and sensors.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Mobile Application: Develop an app to show crowd pressure and risk alerts.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Live Alerts: Send warnings to authorities when crowd pressure becomes high.</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Better Accuracy: Test advanced Machine Learning and Deep Learning models.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Location Analysis: Identify crowded or high-risk areas using maps.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Weather Integration: Use live weather data to improve predictions.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Large-Scale Use: Extend the system to festivals, stadiums, railway stations, and other large gatherings.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8912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DE351-1B07-234E-F4D3-1F5D4F07A328}"/>
              </a:ext>
            </a:extLst>
          </p:cNvPr>
          <p:cNvSpPr>
            <a:spLocks noGrp="1"/>
          </p:cNvSpPr>
          <p:nvPr>
            <p:ph type="ctrTitle"/>
          </p:nvPr>
        </p:nvSpPr>
        <p:spPr>
          <a:xfrm>
            <a:off x="3252486" y="1608881"/>
            <a:ext cx="5532699" cy="1820119"/>
          </a:xfrm>
        </p:spPr>
        <p:txBody>
          <a:bodyPr/>
          <a:lstStyle/>
          <a:p>
            <a:r>
              <a:rPr lang="en-US" dirty="0">
                <a:latin typeface="Times New Roman" panose="02020603050405020304" pitchFamily="18" charset="0"/>
                <a:cs typeface="Times New Roman" panose="02020603050405020304" pitchFamily="18" charset="0"/>
              </a:rPr>
              <a:t>THANK YOU</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5362496"/>
      </p:ext>
    </p:extLst>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docProps/app.xml><?xml version="1.0" encoding="utf-8"?>
<Properties xmlns="http://schemas.openxmlformats.org/officeDocument/2006/extended-properties" xmlns:vt="http://schemas.openxmlformats.org/officeDocument/2006/docPropsVTypes">
  <Template>Helena</Template>
  <TotalTime>46</TotalTime>
  <Words>822</Words>
  <Application>Microsoft Office PowerPoint</Application>
  <PresentationFormat>Widescreen</PresentationFormat>
  <Paragraphs>73</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Neue Haas Grotesk Text Pro</vt:lpstr>
      <vt:lpstr>Times New Roman</vt:lpstr>
      <vt:lpstr>Helena</vt:lpstr>
      <vt:lpstr>MINI PROJECT</vt:lpstr>
      <vt:lpstr>Brief Description </vt:lpstr>
      <vt:lpstr>Importance of the Issue  </vt:lpstr>
      <vt:lpstr>Expected Output </vt:lpstr>
      <vt:lpstr>PowerPoint Presentation</vt:lpstr>
      <vt:lpstr>Dataset  Keys and Features Date &amp; Time – Time of the crowd observation Crowd Density – Number of people in a given area Crowd Flow – Movement of people Temperature – Weather temperature Humidity – Level of moisture in the air Event Type – Type of religious event Location – Area where the crowd is present Crowd Pressure Index – Target value to be predicted Risk Level – Safe, Moderate, or Critical  Source of Dataset  India Crowd Flow Dataset – Kaggle The dataset contains information about crowd movement, crowd conditions, weather, and event-related factors, which is used to train and test the Machine Learning model. </vt:lpstr>
      <vt:lpstr>Proposed Solution Collect crowd, weather, and event-related data. Clean and prepare the dataset for Machine Learning. Analyze the important factors affecting crowd pressure. Train a Machine Learning model using the collected data. Predict the Crowd Pressure Index. Classify the crowd risk as Safe, Moderate, or Critical. Provide early information to help in crowd management and safety.   Algorithms Used Random Forest Regression – To predict the Crowd Pressure Index. Random Forest Classification – To predict the Risk Level.   Reason for Selection of Algorithm Random Forest is selected because: It works well with different types of data. It can handle multiple input features. It can capture complex relationships in the data. It provides good prediction performance. It is less affected by noise and overfitting compared with a single decision tree. </vt:lpstr>
      <vt:lpstr>Important Commands Used </vt:lpstr>
      <vt:lpstr>Scope for Further Research and Development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Mayur Pawar</dc:creator>
  <cp:lastModifiedBy>Mayur Pawar</cp:lastModifiedBy>
  <cp:revision>1</cp:revision>
  <dcterms:created xsi:type="dcterms:W3CDTF">2026-09-27T13:21:24Z</dcterms:created>
  <dcterms:modified xsi:type="dcterms:W3CDTF">2026-09-28T03:47:22Z</dcterms:modified>
</cp:coreProperties>
</file>